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164" autoAdjust="0"/>
  </p:normalViewPr>
  <p:slideViewPr>
    <p:cSldViewPr snapToGrid="0">
      <p:cViewPr varScale="1">
        <p:scale>
          <a:sx n="64" d="100"/>
          <a:sy n="64" d="100"/>
        </p:scale>
        <p:origin x="9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B6661-5A1F-4642-8342-3D3B97B50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17920-7382-42C1-AF12-9F2259077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14395-EACA-4EA2-ADE7-3D66A57AF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63EC0-FCF2-4429-9D52-CE19C56678E1}" type="datetimeFigureOut">
              <a:rPr lang="en-US" smtClean="0"/>
              <a:t>22-Feb-23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9806A-89F5-4190-B828-24D1C6E06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0B479-C489-4F32-9A08-6511AE36E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1BDB-E3D3-49F0-9263-1E458F8C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877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89EDA-BFA9-4334-8090-4BA70E93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E7929-1E30-4747-811D-F6DE31D54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DDF4A-1810-40E2-8663-5C4DDFB4B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63EC0-FCF2-4429-9D52-CE19C56678E1}" type="datetimeFigureOut">
              <a:rPr lang="en-US" smtClean="0"/>
              <a:t>22-Feb-23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36332-6879-49D8-A326-970055B1E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65D3D-0AB8-4F4E-8CB6-8225FB134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1BDB-E3D3-49F0-9263-1E458F8C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3D3E0-B36E-4839-A322-B95C0A3B2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23820-F9FC-4522-8594-202666142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6D0B1-7773-4D5E-BB08-A67F0782B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63EC0-FCF2-4429-9D52-CE19C56678E1}" type="datetimeFigureOut">
              <a:rPr lang="en-US" smtClean="0"/>
              <a:t>22-Feb-23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480A7-37A8-4883-9F1B-E4769F22C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66115-876C-4964-BFB5-59637866D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1BDB-E3D3-49F0-9263-1E458F8C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9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9CE17-E3AF-4B11-A6D2-07597FF2D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DFAF0-85FA-4978-B80E-9EC567AE6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9CFDC-8197-420D-8EC4-44BA1BB6B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4B9BC-D4B3-43DB-BB12-768B049F4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63EC0-FCF2-4429-9D52-CE19C56678E1}" type="datetimeFigureOut">
              <a:rPr lang="en-US" smtClean="0"/>
              <a:t>22-Feb-23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3022A-FF65-4E46-B7EF-61BD15CD4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ABAB8-E1DE-48FB-9662-41EE51A8A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1BDB-E3D3-49F0-9263-1E458F8C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3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17E7E-5801-45CF-BD87-27D0858F7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742A7-4A55-432E-B684-884B4290B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017557-D7EE-4936-8E9C-7E55746B0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D68C93-D51A-4B7F-9DC3-1FDF921AC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4D8FF-9291-4EF2-A161-C84BDEF88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09945E-F361-4468-ADCB-5AB883FA0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63EC0-FCF2-4429-9D52-CE19C56678E1}" type="datetimeFigureOut">
              <a:rPr lang="en-US" smtClean="0"/>
              <a:t>22-Feb-23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1D6C27-6767-4E38-BA12-4DF65CDDF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163229-0B73-4FFE-961C-6B30B2BA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1BDB-E3D3-49F0-9263-1E458F8C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547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812CD-A63C-4796-86F2-FEDFFB554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76FFB-FD14-4548-93C2-DA9F3E11C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63EC0-FCF2-4429-9D52-CE19C56678E1}" type="datetimeFigureOut">
              <a:rPr lang="en-US" smtClean="0"/>
              <a:t>22-Feb-23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739DF-DE74-4D9B-8868-27DF1C25E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EF768F-415B-468F-BA1E-7DB2EE0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1BDB-E3D3-49F0-9263-1E458F8C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41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C323FE-2F71-4350-BC4F-709D0A4D2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63EC0-FCF2-4429-9D52-CE19C56678E1}" type="datetimeFigureOut">
              <a:rPr lang="en-US" smtClean="0"/>
              <a:t>22-Feb-23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A454CA-E906-40B1-AFF8-94BC66A9C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7C59E-7C52-43B9-8B16-5E5F0FA6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1BDB-E3D3-49F0-9263-1E458F8C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00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9B5E5-D6EF-4B23-9F24-D2876059C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D59DE-7097-43FF-8681-3BA469823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41EDE-6CA8-4B05-B7DA-EB0D9C3A3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A71BF-B4D8-4E9F-AB03-0743D2509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63EC0-FCF2-4429-9D52-CE19C56678E1}" type="datetimeFigureOut">
              <a:rPr lang="en-US" smtClean="0"/>
              <a:t>22-Feb-23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65A9B-E4E6-40A6-8FF8-B7BB0075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6A2FA-35C9-4D83-B7DF-DB8E6B93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1BDB-E3D3-49F0-9263-1E458F8C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88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E587-C80A-453C-B260-72F9E2130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DC2A54-02F2-4120-A355-1541E04ACB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23BC6-42F9-4115-A8B4-95C209F68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5DEFE-B7CC-4577-9349-9539F2797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63EC0-FCF2-4429-9D52-CE19C56678E1}" type="datetimeFigureOut">
              <a:rPr lang="en-US" smtClean="0"/>
              <a:t>22-Feb-23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561E75-FA43-4830-BD66-777880EC3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62301-3A6F-431F-86F3-88BD55C79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1BDB-E3D3-49F0-9263-1E458F8C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24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2EEA9-B28E-4158-B896-129FAC4C3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B1C02-359B-4068-9EFF-807C78371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FD33E-9340-41B7-8935-9548D3AC3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63EC0-FCF2-4429-9D52-CE19C56678E1}" type="datetimeFigureOut">
              <a:rPr lang="en-US" smtClean="0"/>
              <a:t>22-Feb-23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9A3D6-94BF-40F9-BCBA-4DF5E0385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171C0-A09D-4C33-9345-71FED29E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1BDB-E3D3-49F0-9263-1E458F8C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30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7A8909-C37C-470E-8C06-92988F5A8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DA522-B6D5-4469-B909-B898021B0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0E4AD-47B3-45F2-A567-2BA6EF277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63EC0-FCF2-4429-9D52-CE19C56678E1}" type="datetimeFigureOut">
              <a:rPr lang="en-US" smtClean="0"/>
              <a:t>22-Feb-23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56B64-82FE-41CC-8F4C-56FC36507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049C7-F5F2-47D2-9128-DAA56F605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1BDB-E3D3-49F0-9263-1E458F8C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747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9EA33F-A28D-4FC6-BE04-9990CC4D0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9ED59-C640-4F32-B5CE-CC1591583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600CC-3962-43E2-8D5C-15F12FDF9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63EC0-FCF2-4429-9D52-CE19C56678E1}" type="datetimeFigureOut">
              <a:rPr lang="en-US" smtClean="0"/>
              <a:t>22-Feb-23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60C9E-25C1-4C9A-BC87-9BB42BB08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D3EE1-F25D-43FA-B189-8B0A06C70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41BDB-E3D3-49F0-9263-1E458F8C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47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4E74F7-9F63-4B2B-A0AF-8B5044583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3100">
                <a:solidFill>
                  <a:schemeClr val="tx2"/>
                </a:solidFill>
              </a:rPr>
              <a:t>Knowledge Representation and Reasoning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27EA1B-729D-4728-A4ED-8BCE16F80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>
                <a:solidFill>
                  <a:schemeClr val="tx2"/>
                </a:solidFill>
              </a:rPr>
              <a:t>Dr. Iftikhar Alam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A66DB9A9-99C9-BFDF-6D46-B1463A138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473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4" name="Picture 4" descr="Complex maths formulae on a blackboard">
            <a:extLst>
              <a:ext uri="{FF2B5EF4-FFF2-40B4-BE49-F238E27FC236}">
                <a16:creationId xmlns:a16="http://schemas.microsoft.com/office/drawing/2014/main" id="{44DB0701-9B47-9D2E-9E0C-F04AD51521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19" r="17195" b="-1"/>
          <a:stretch/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4E8937-63AD-477C-8576-1C992C0B2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r>
              <a:rPr lang="en-US"/>
              <a:t>Schemes/Approaches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486C7-EFDC-45BE-8627-D31C9E15E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8" y="1868487"/>
            <a:ext cx="5721484" cy="4581526"/>
          </a:xfrm>
        </p:spPr>
        <p:txBody>
          <a:bodyPr>
            <a:normAutofit/>
          </a:bodyPr>
          <a:lstStyle/>
          <a:p>
            <a:r>
              <a:rPr lang="en-US" dirty="0"/>
              <a:t>Prepositional logic (Prepositional calculus) </a:t>
            </a:r>
          </a:p>
          <a:p>
            <a:r>
              <a:rPr lang="en-US" dirty="0"/>
              <a:t>Predicate logic (Predicate Calculus) </a:t>
            </a:r>
          </a:p>
          <a:p>
            <a:r>
              <a:rPr lang="en-US" dirty="0"/>
              <a:t>Semantic Networks</a:t>
            </a:r>
          </a:p>
          <a:p>
            <a:r>
              <a:rPr lang="en-US" dirty="0"/>
              <a:t>Ontological approach  </a:t>
            </a:r>
          </a:p>
          <a:p>
            <a:r>
              <a:rPr lang="en-US" dirty="0"/>
              <a:t>Knowledge Graph </a:t>
            </a:r>
          </a:p>
          <a:p>
            <a:r>
              <a:rPr lang="en-US" dirty="0"/>
              <a:t>Topic Maps </a:t>
            </a:r>
          </a:p>
          <a:p>
            <a:r>
              <a:rPr lang="en-US" dirty="0"/>
              <a:t>Frames</a:t>
            </a:r>
          </a:p>
          <a:p>
            <a:r>
              <a:rPr lang="en-US" dirty="0"/>
              <a:t>Scripts 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43952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5C917-064E-4CE5-8F8C-E8A76DF77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Prepositional logic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649AC-9E2B-47C1-8E99-54F7AB7EF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Part-III Chapter 7, 8 (Russell) </a:t>
            </a:r>
          </a:p>
          <a:p>
            <a:r>
              <a:rPr lang="en-US" dirty="0"/>
              <a:t>Part-III Chapter 2, and 7 (Luger)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967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10CB-80CB-4D29-9EC1-AB546A569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2493"/>
          </a:xfrm>
        </p:spPr>
        <p:txBody>
          <a:bodyPr/>
          <a:lstStyle/>
          <a:p>
            <a:r>
              <a:rPr lang="en-US" dirty="0"/>
              <a:t>Logical Agents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E3930-1FC2-43F0-9413-BC944DB19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2363"/>
            <a:ext cx="10515600" cy="5363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AI, </a:t>
            </a:r>
            <a:r>
              <a:rPr lang="en-US" b="1" dirty="0"/>
              <a:t>knowledge-based agents </a:t>
            </a:r>
            <a:r>
              <a:rPr lang="en-US" dirty="0"/>
              <a:t>use a process of </a:t>
            </a:r>
            <a:r>
              <a:rPr lang="en-US" b="1" dirty="0"/>
              <a:t>reasoning </a:t>
            </a:r>
            <a:r>
              <a:rPr lang="en-US" dirty="0"/>
              <a:t>over an internal </a:t>
            </a:r>
            <a:r>
              <a:rPr lang="en-US" b="1" dirty="0"/>
              <a:t>representation </a:t>
            </a:r>
            <a:r>
              <a:rPr lang="en-US" dirty="0"/>
              <a:t>of knowledge to decide what actions to take.</a:t>
            </a:r>
          </a:p>
          <a:p>
            <a:endParaRPr lang="en-US" dirty="0"/>
          </a:p>
          <a:p>
            <a:pPr lvl="1"/>
            <a:r>
              <a:rPr lang="en-US" dirty="0"/>
              <a:t>Knowledge-based agents </a:t>
            </a:r>
          </a:p>
          <a:p>
            <a:pPr lvl="2"/>
            <a:r>
              <a:rPr lang="en-US" dirty="0"/>
              <a:t>Central Components </a:t>
            </a:r>
          </a:p>
          <a:p>
            <a:pPr lvl="3"/>
            <a:r>
              <a:rPr lang="en-US" b="1" dirty="0"/>
              <a:t>Knowledge base </a:t>
            </a:r>
            <a:r>
              <a:rPr lang="en-US" dirty="0"/>
              <a:t>(set of </a:t>
            </a:r>
            <a:r>
              <a:rPr lang="en-US" b="1" dirty="0"/>
              <a:t>sentences</a:t>
            </a:r>
            <a:r>
              <a:rPr lang="en-US" dirty="0"/>
              <a:t>) </a:t>
            </a:r>
          </a:p>
          <a:p>
            <a:pPr lvl="3"/>
            <a:r>
              <a:rPr lang="en-US" dirty="0"/>
              <a:t>Each sentence is expressed in a language called a </a:t>
            </a:r>
            <a:r>
              <a:rPr lang="en-US" b="1" dirty="0"/>
              <a:t>knowledge representation language</a:t>
            </a:r>
            <a:r>
              <a:rPr lang="en-US" dirty="0"/>
              <a:t> </a:t>
            </a:r>
          </a:p>
          <a:p>
            <a:pPr lvl="3"/>
            <a:r>
              <a:rPr lang="en-US" dirty="0"/>
              <a:t>When the sentence is taken as being given without being derived from other sentences, we call it an </a:t>
            </a:r>
            <a:r>
              <a:rPr lang="en-US" b="1" dirty="0"/>
              <a:t>axiom.</a:t>
            </a:r>
          </a:p>
          <a:p>
            <a:endParaRPr lang="en-US" dirty="0"/>
          </a:p>
          <a:p>
            <a:r>
              <a:rPr lang="en-US" dirty="0"/>
              <a:t>There must be a way to </a:t>
            </a:r>
            <a:r>
              <a:rPr lang="en-US" b="1" dirty="0"/>
              <a:t>add new sentences </a:t>
            </a:r>
            <a:r>
              <a:rPr lang="en-US" dirty="0"/>
              <a:t>to the </a:t>
            </a:r>
            <a:r>
              <a:rPr lang="en-US" b="1" dirty="0"/>
              <a:t>knowledge base </a:t>
            </a:r>
            <a:r>
              <a:rPr lang="en-US" dirty="0"/>
              <a:t>and a </a:t>
            </a:r>
            <a:r>
              <a:rPr lang="en-US" b="1" dirty="0"/>
              <a:t>way to query </a:t>
            </a:r>
            <a:r>
              <a:rPr lang="en-US" dirty="0"/>
              <a:t>what is known. The standard names for these operations are </a:t>
            </a:r>
            <a:r>
              <a:rPr lang="en-US" b="1" dirty="0"/>
              <a:t>TELL and ASK</a:t>
            </a:r>
            <a:r>
              <a:rPr lang="en-US" dirty="0"/>
              <a:t>, respectively. Both operations may involve </a:t>
            </a:r>
            <a:r>
              <a:rPr lang="en-US" b="1" dirty="0"/>
              <a:t>inference</a:t>
            </a:r>
            <a:r>
              <a:rPr lang="en-US" dirty="0"/>
              <a:t>—that is, deriving new sentences from old. </a:t>
            </a:r>
          </a:p>
        </p:txBody>
      </p:sp>
    </p:spTree>
    <p:extLst>
      <p:ext uri="{BB962C8B-B14F-4D97-AF65-F5344CB8AC3E}">
        <p14:creationId xmlns:p14="http://schemas.microsoft.com/office/powerpoint/2010/main" val="2520968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72B48F-F9AE-459B-BE58-65BB94235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66" y="684636"/>
            <a:ext cx="3890069" cy="176409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Knowledge base agent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E7471BA-0061-4DE6-8A63-0F2816FA51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5659" y="606202"/>
            <a:ext cx="8388770" cy="587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80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8344C-C4DC-4C73-8567-2DA0E9B4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Declarative vs Procedural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AE9FB-54EB-4DD8-BB29-44028B739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Declarative knowledge </a:t>
            </a:r>
          </a:p>
          <a:p>
            <a:pPr lvl="1"/>
            <a:r>
              <a:rPr lang="en-US" sz="2200" dirty="0"/>
              <a:t>Fact based </a:t>
            </a:r>
          </a:p>
          <a:p>
            <a:pPr lvl="1"/>
            <a:r>
              <a:rPr lang="en-US" sz="2200" dirty="0"/>
              <a:t>Static in nature </a:t>
            </a:r>
          </a:p>
          <a:p>
            <a:pPr lvl="1"/>
            <a:r>
              <a:rPr lang="en-US" sz="2200" dirty="0"/>
              <a:t>Computer is an electronic device </a:t>
            </a:r>
          </a:p>
          <a:p>
            <a:pPr lvl="1"/>
            <a:endParaRPr lang="en-US" sz="2200" dirty="0"/>
          </a:p>
          <a:p>
            <a:r>
              <a:rPr lang="en-US" sz="2200" dirty="0"/>
              <a:t>Procedural knowledge </a:t>
            </a:r>
          </a:p>
          <a:p>
            <a:pPr lvl="1"/>
            <a:r>
              <a:rPr lang="en-US" sz="2200" dirty="0"/>
              <a:t>How to perform, operate, proceed in certain environment </a:t>
            </a:r>
          </a:p>
          <a:p>
            <a:pPr lvl="1"/>
            <a:r>
              <a:rPr lang="en-US" sz="2200" dirty="0"/>
              <a:t>How to calculate the percentage </a:t>
            </a:r>
          </a:p>
          <a:p>
            <a:pPr lvl="1"/>
            <a:r>
              <a:rPr lang="en-US" sz="2200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733613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0421-A960-45AE-9828-F04634628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Wumpus World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7E5A10-B75E-42BB-AAB2-2ACE67BEA0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9016" y="1034247"/>
            <a:ext cx="6542767" cy="559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31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B15C-8F89-4EE3-ADA2-EAA55BDDE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 for Wumpus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14369CC-80E4-4F48-BCEE-A90F9E1E3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576" y="1460841"/>
            <a:ext cx="7801209" cy="446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06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5A4C5-EE83-4AB3-8E1D-80BF533BD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D47C56-4B81-4044-9FDC-DD3B873F97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258029" cy="448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4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05C-95F9-40D1-8740-835F6022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6972-1345-4641-A7B3-806D71606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logic must also define the </a:t>
            </a:r>
            <a:r>
              <a:rPr lang="en-US" b="1" dirty="0"/>
              <a:t>semantics</a:t>
            </a:r>
            <a:r>
              <a:rPr lang="en-US" dirty="0"/>
              <a:t>, or meaning, of sentences. The semantics defines the</a:t>
            </a:r>
            <a:br>
              <a:rPr lang="en-US" dirty="0"/>
            </a:br>
            <a:r>
              <a:rPr lang="en-US" b="1" dirty="0"/>
              <a:t>truth </a:t>
            </a:r>
            <a:r>
              <a:rPr lang="en-US" dirty="0"/>
              <a:t>of each sentence with respect to each </a:t>
            </a:r>
            <a:r>
              <a:rPr lang="en-US" b="1" dirty="0"/>
              <a:t>possible world</a:t>
            </a:r>
            <a:r>
              <a:rPr lang="en-US" dirty="0"/>
              <a:t>. For example, the semantics for</a:t>
            </a:r>
            <a:br>
              <a:rPr lang="en-US" dirty="0"/>
            </a:br>
            <a:r>
              <a:rPr lang="en-US" dirty="0"/>
              <a:t>arithmetic specifies that the sentence “ ” is true in a world where is 2 and is 2, but</a:t>
            </a:r>
            <a:br>
              <a:rPr lang="en-US" dirty="0"/>
            </a:br>
            <a:r>
              <a:rPr lang="en-US" dirty="0"/>
              <a:t>false in a world where is 1 and is 1. In standard logics, every sentence must be either true</a:t>
            </a:r>
            <a:br>
              <a:rPr lang="en-US" dirty="0"/>
            </a:br>
            <a:r>
              <a:rPr lang="en-US" dirty="0"/>
              <a:t>or false in each possible world—there is no “in between.”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795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A5C3F-DF88-4773-93FE-214D1F5D6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Logic: A Very Simple Logic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B22DC-36C6-4665-A22E-92D4E91BA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Preposition is a statement of a fact. </a:t>
            </a:r>
          </a:p>
          <a:p>
            <a:pPr lvl="1"/>
            <a:r>
              <a:rPr lang="en-US" dirty="0"/>
              <a:t>Example: Ali is a good boy.  (Is Ali a goof boy?) is not a stamen of fact.</a:t>
            </a:r>
          </a:p>
          <a:p>
            <a:pPr lvl="1"/>
            <a:r>
              <a:rPr lang="en-US" dirty="0"/>
              <a:t>3*3=12 ( is a statement ) but false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Propositional symbols or variables</a:t>
            </a:r>
          </a:p>
          <a:p>
            <a:pPr lvl="1"/>
            <a:r>
              <a:rPr lang="en-US" dirty="0"/>
              <a:t>A,B,C, P,Q,R…..</a:t>
            </a:r>
          </a:p>
          <a:p>
            <a:pPr lvl="1"/>
            <a:r>
              <a:rPr lang="en-US" dirty="0"/>
              <a:t>Ali is a good boy. (P=Ali is a propositional variable)</a:t>
            </a:r>
          </a:p>
          <a:p>
            <a:pPr lvl="1"/>
            <a:r>
              <a:rPr lang="en-US" dirty="0"/>
              <a:t>Ali is hardworking. (Q) is symbol. </a:t>
            </a:r>
          </a:p>
          <a:p>
            <a:pPr lvl="1"/>
            <a:r>
              <a:rPr lang="en-US" dirty="0"/>
              <a:t>How to combine both (Ali is good and honest boy)</a:t>
            </a:r>
          </a:p>
          <a:p>
            <a:pPr lvl="2"/>
            <a:r>
              <a:rPr lang="en-US" dirty="0"/>
              <a:t>Connective (^) (P^Q)</a:t>
            </a:r>
          </a:p>
          <a:p>
            <a:pPr lvl="2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6565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A56DD-876F-4B3F-85FC-7EEEC10ED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E0706-9EE2-4396-B9AB-4089EC325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Connectives </a:t>
            </a:r>
          </a:p>
          <a:p>
            <a:r>
              <a:rPr lang="en-US" dirty="0"/>
              <a:t>AND (^)</a:t>
            </a:r>
          </a:p>
          <a:p>
            <a:r>
              <a:rPr lang="en-US" dirty="0"/>
              <a:t>OR (v)</a:t>
            </a:r>
          </a:p>
          <a:p>
            <a:r>
              <a:rPr lang="en-US" dirty="0">
                <a:sym typeface="Wingdings" panose="05000000000000000000" pitchFamily="2" charset="2"/>
              </a:rPr>
              <a:t> (Implies) Conditional </a:t>
            </a:r>
          </a:p>
          <a:p>
            <a:r>
              <a:rPr lang="en-US" dirty="0">
                <a:sym typeface="Wingdings" panose="05000000000000000000" pitchFamily="2" charset="2"/>
              </a:rPr>
              <a:t>&gt; (bi conditional) </a:t>
            </a:r>
          </a:p>
          <a:p>
            <a:r>
              <a:rPr lang="en-US" dirty="0">
                <a:sym typeface="Wingdings" panose="05000000000000000000" pitchFamily="2" charset="2"/>
              </a:rPr>
              <a:t>Not </a:t>
            </a:r>
          </a:p>
          <a:p>
            <a:r>
              <a:rPr lang="en-US" dirty="0">
                <a:sym typeface="Wingdings" panose="05000000000000000000" pitchFamily="2" charset="2"/>
              </a:rPr>
              <a:t>Some practice on truth table 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6E072F-2802-4F1D-ABA2-8C5DBB8A5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672" y="1690688"/>
            <a:ext cx="8058871" cy="117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021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8BFAB-7489-49BD-A7F5-AFC610EB7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905E8E5-4EED-4C3B-B377-3C16EE0744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3732"/>
            <a:ext cx="10940597" cy="359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016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5304A-14B9-46C4-B83B-6F551776E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Prepositional theorems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AA0B21-DE73-445C-9E98-01E8B7F7D2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8025"/>
            <a:ext cx="7182240" cy="438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202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07E2F-B632-48AA-A50D-262EEFE97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lecture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E52A5-1FC0-4B15-8CEF-0226313D0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 is First Order Logic (Predicate Logic) </a:t>
            </a:r>
          </a:p>
          <a:p>
            <a:r>
              <a:rPr lang="en-US" dirty="0"/>
              <a:t>An extended version of the Prepositional logic </a:t>
            </a:r>
          </a:p>
        </p:txBody>
      </p:sp>
    </p:spTree>
    <p:extLst>
      <p:ext uri="{BB962C8B-B14F-4D97-AF65-F5344CB8AC3E}">
        <p14:creationId xmlns:p14="http://schemas.microsoft.com/office/powerpoint/2010/main" val="240311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390</Words>
  <Application>Microsoft Office PowerPoint</Application>
  <PresentationFormat>Widescreen</PresentationFormat>
  <Paragraphs>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Knowledge Representation and Reasoning </vt:lpstr>
      <vt:lpstr>Schemes/Approaches </vt:lpstr>
      <vt:lpstr>Prepositional logic </vt:lpstr>
      <vt:lpstr>Logical Agents </vt:lpstr>
      <vt:lpstr>Knowledge base agent </vt:lpstr>
      <vt:lpstr>Declarative vs Procedural </vt:lpstr>
      <vt:lpstr>The Wumpus World  </vt:lpstr>
      <vt:lpstr>PEAS for Wumpus </vt:lpstr>
      <vt:lpstr>Cont….</vt:lpstr>
      <vt:lpstr>Logic </vt:lpstr>
      <vt:lpstr>Propositional Logic: A Very Simple Logic  </vt:lpstr>
      <vt:lpstr>Con….</vt:lpstr>
      <vt:lpstr>Cont…</vt:lpstr>
      <vt:lpstr>Prepositional theorems</vt:lpstr>
      <vt:lpstr>End of lecture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Representation and Reasoning </dc:title>
  <dc:creator>Iftikhar Alam</dc:creator>
  <cp:lastModifiedBy>Iftikhar Alam</cp:lastModifiedBy>
  <cp:revision>2</cp:revision>
  <dcterms:created xsi:type="dcterms:W3CDTF">2023-02-23T08:10:46Z</dcterms:created>
  <dcterms:modified xsi:type="dcterms:W3CDTF">2023-02-23T08:22:44Z</dcterms:modified>
</cp:coreProperties>
</file>
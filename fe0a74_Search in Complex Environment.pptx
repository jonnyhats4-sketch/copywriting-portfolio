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76" r:id="rId15"/>
    <p:sldId id="277" r:id="rId16"/>
    <p:sldId id="269" r:id="rId17"/>
    <p:sldId id="270" r:id="rId18"/>
    <p:sldId id="274" r:id="rId19"/>
    <p:sldId id="271" r:id="rId20"/>
    <p:sldId id="278" r:id="rId21"/>
    <p:sldId id="272" r:id="rId22"/>
    <p:sldId id="273" r:id="rId23"/>
    <p:sldId id="275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FFD9E-7FD2-46EB-AEF8-089A08C5F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CFA10-51A5-4C2F-A3CD-8FFB3E5FD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AEAAF-7BED-4B46-B3A4-50EC1FA8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AE107-A5F2-497F-8230-A668B045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43067-0B78-4C1E-B3C5-514322DE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2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4A90-DBF6-4522-81DB-C0EF844C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7C65C-89C2-40E6-AB95-B38087CD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9DF95-E201-486F-B02B-D2CA3716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DCBF3-F33A-482F-9E14-C6647616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A5279-DFAC-4A01-9A87-15F41B67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5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6739-5040-4C6B-B654-756BEFB4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7933E-4DEF-445F-8BCB-5DF9D8D41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5275-72D4-4CAF-9345-5F34AE85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A5F45-0017-4E44-80AF-D78D90DA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62DED-105A-4E87-A6CF-BEFFFA66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8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09B9-100B-409A-A6DE-5359EE499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76AC5-3E33-42E8-AFDA-2899347965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90949-1285-49A5-BD7C-43F811962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64902-0EC2-42D3-A322-8575EB04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4103B-E2E0-43DA-832C-A00203DE3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10087-24BD-4973-A647-A3664813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6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F4EBA-4B77-45D1-8176-90EACCFCE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F5EDB-DEC8-4062-8DB3-C17F28551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27682-B031-426F-BDC8-C9F1B3865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0184C-EC99-481A-ABAB-9D1D8B1D8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8F22D8-16BC-43F8-A2D3-4C0987A53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43BA03-3B8E-4C45-86D7-FA0D372D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3F8B0-FE2C-4BDA-A2FF-031A6931C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234F11-82F9-4ADB-9C99-105FCE34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04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BF517-4DFC-4A33-BC11-4560CE01F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25C4C-E598-45A1-93CE-711E4446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91F8E-E4E9-4622-AA89-A3A2A8EF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33F19-2370-4637-B196-8A199EF50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0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D1B34-5A1D-46AE-8F57-901250E5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EBEB5-33BE-40A8-9308-F61E01A2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F5DF3-3E5C-49D0-A367-81BFBAE6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15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EE0B-AEC2-4CDF-93D2-76316A63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15EC-6B59-4DCD-9BCB-8C4360701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D3CB0-271B-494D-89C1-43F37E674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E3E96-F878-461D-9417-350F4D0B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5CC26-3586-49F0-B94D-FC7CB1B2B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C4CAC-458E-4F4D-9F59-648B1F90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8E2DA-4DC1-450B-ABCB-BF8BA8CE2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CB0E6-BBE8-4C4C-B4F0-D0262820D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C9A5B-2BDF-40E9-AD68-EE2070A77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5D44-7481-4CD5-9246-72FD5AB4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176A7-151E-46B1-9FF1-393A6545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4A008-B899-4B26-A7B7-3F58BF0E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0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6C04-64C6-4D1E-87AE-017042CA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245D2-F71A-432C-83DD-2873B0219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5DE06-59FF-4F09-9113-A009BA75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415DF-FF1E-4193-B585-7BFA1F53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EDCB-BF9A-433D-83A7-9C22890B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5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FDE488-2DFE-4D48-9F74-268F1B1FA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B6C7F-1836-41D1-8382-00C2EF236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2185E-6A06-404B-8499-605A9095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D81E1-2457-41F2-88F8-BD2571C1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1D265-F31F-4DF2-BA7E-D44A347B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9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989CD-B0DC-46DC-8B42-789DAE52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7F9CF-B1F2-4C34-8E90-975E757ED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AE3B3-A0F6-4C3F-9B61-FD404B5CF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5F283-EA60-4E02-A33C-E98F1ECCE1EF}" type="datetimeFigureOut">
              <a:rPr lang="en-US" smtClean="0"/>
              <a:t>16-Apr-2024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67991-9E83-4155-BE8D-E648E3A6E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128A-D024-4B1A-BAA0-7FFB16AC5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4A440-E0F3-404A-9D46-B347CA6A5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76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eural_network" TargetMode="External"/><Relationship Id="rId3" Type="http://schemas.openxmlformats.org/officeDocument/2006/relationships/hyperlink" Target="https://en.wikipedia.org/wiki/Generative_AI" TargetMode="External"/><Relationship Id="rId7" Type="http://schemas.openxmlformats.org/officeDocument/2006/relationships/hyperlink" Target="https://en.wikipedia.org/wiki/Generative_adversarial_network#cite_note-GANnips-3" TargetMode="External"/><Relationship Id="rId2" Type="http://schemas.openxmlformats.org/officeDocument/2006/relationships/hyperlink" Target="https://en.wikipedia.org/wiki/Machine_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an_Goodfellow" TargetMode="External"/><Relationship Id="rId5" Type="http://schemas.openxmlformats.org/officeDocument/2006/relationships/hyperlink" Target="https://en.wikipedia.org/wiki/Generative_adversarial_network#cite_note-2" TargetMode="External"/><Relationship Id="rId4" Type="http://schemas.openxmlformats.org/officeDocument/2006/relationships/hyperlink" Target="https://en.wikipedia.org/wiki/Generative_adversarial_network#cite_note-1" TargetMode="External"/><Relationship Id="rId9" Type="http://schemas.openxmlformats.org/officeDocument/2006/relationships/hyperlink" Target="https://en.wikipedia.org/wiki/Zero-sum_game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Reinforcement_learning" TargetMode="External"/><Relationship Id="rId3" Type="http://schemas.openxmlformats.org/officeDocument/2006/relationships/hyperlink" Target="https://en.wikipedia.org/wiki/Unsupervised_learning" TargetMode="External"/><Relationship Id="rId7" Type="http://schemas.openxmlformats.org/officeDocument/2006/relationships/hyperlink" Target="https://en.wikipedia.org/wiki/Generative_adversarial_network#cite_note-5" TargetMode="External"/><Relationship Id="rId2" Type="http://schemas.openxmlformats.org/officeDocument/2006/relationships/hyperlink" Target="https://en.wikipedia.org/wiki/Generative_mode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upervised_learning" TargetMode="External"/><Relationship Id="rId5" Type="http://schemas.openxmlformats.org/officeDocument/2006/relationships/hyperlink" Target="https://en.wikipedia.org/wiki/Generative_adversarial_network#cite_note-ITT_GANs-4" TargetMode="External"/><Relationship Id="rId4" Type="http://schemas.openxmlformats.org/officeDocument/2006/relationships/hyperlink" Target="https://en.wikipedia.org/wiki/Semi-supervised_learning" TargetMode="External"/><Relationship Id="rId9" Type="http://schemas.openxmlformats.org/officeDocument/2006/relationships/hyperlink" Target="https://en.wikipedia.org/wiki/Generative_adversarial_network#cite_note-6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micry" TargetMode="External"/><Relationship Id="rId2" Type="http://schemas.openxmlformats.org/officeDocument/2006/relationships/hyperlink" Target="https://en.wikipedia.org/wiki/Generative_adversarial_network#cite_note-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Evolutionary_arms_race" TargetMode="External"/><Relationship Id="rId4" Type="http://schemas.openxmlformats.org/officeDocument/2006/relationships/hyperlink" Target="https://en.wikipedia.org/wiki/Evolutionary_biology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3E11-6A90-4380-9391-BBD43ED23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Search in Complex Environment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082C0-A757-4B23-9EFD-F9E880219A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Iftikhar Alam</a:t>
            </a:r>
          </a:p>
          <a:p>
            <a:r>
              <a:rPr lang="en-US" dirty="0"/>
              <a:t>CUSIT</a:t>
            </a:r>
          </a:p>
        </p:txBody>
      </p:sp>
    </p:spTree>
    <p:extLst>
      <p:ext uri="{BB962C8B-B14F-4D97-AF65-F5344CB8AC3E}">
        <p14:creationId xmlns:p14="http://schemas.microsoft.com/office/powerpoint/2010/main" val="206695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F4E1-5708-4279-A963-1DBE499C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E94E2-3334-40E2-83E8-A76209B8A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3. Fully observable, deterministic, static, known</a:t>
            </a:r>
            <a:br>
              <a:rPr lang="en-US" dirty="0"/>
            </a:br>
            <a:r>
              <a:rPr lang="en-US" dirty="0"/>
              <a:t>environments where the solution is a sequence of actions. </a:t>
            </a:r>
          </a:p>
          <a:p>
            <a:endParaRPr lang="en-US" dirty="0"/>
          </a:p>
          <a:p>
            <a:r>
              <a:rPr lang="en-US" dirty="0"/>
              <a:t>Local Search and Optimization Problems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Local search </a:t>
            </a:r>
            <a:r>
              <a:rPr lang="en-US" dirty="0"/>
              <a:t>algorithms operate by searching from a start state to neighboring states, without keeping track of the paths, nor the set of states that have been reached.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08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7D6B-6F1F-4A6A-9809-C352B532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55A35-22FC-4839-A7CC-2AA41F97C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164"/>
            <a:ext cx="10515600" cy="47637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 systematic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Two key advantages: </a:t>
            </a:r>
          </a:p>
          <a:p>
            <a:pPr lvl="1"/>
            <a:r>
              <a:rPr lang="en-US" dirty="0"/>
              <a:t>(1) they use very little</a:t>
            </a:r>
            <a:br>
              <a:rPr lang="en-US" dirty="0"/>
            </a:br>
            <a:r>
              <a:rPr lang="en-US" dirty="0"/>
              <a:t>memory; and </a:t>
            </a:r>
          </a:p>
          <a:p>
            <a:pPr lvl="1"/>
            <a:r>
              <a:rPr lang="en-US" dirty="0"/>
              <a:t>(2) they can often find reasonable solutions in large or infinite state spaces for</a:t>
            </a:r>
            <a:br>
              <a:rPr lang="en-US" dirty="0"/>
            </a:br>
            <a:r>
              <a:rPr lang="en-US" dirty="0"/>
              <a:t>which systematic algorithms are unsuitable.</a:t>
            </a:r>
          </a:p>
          <a:p>
            <a:r>
              <a:rPr lang="en-US" dirty="0"/>
              <a:t>Local search algorithms can also solve </a:t>
            </a:r>
            <a:r>
              <a:rPr lang="en-US" b="1" dirty="0"/>
              <a:t>optimization problems</a:t>
            </a:r>
            <a:r>
              <a:rPr lang="en-US" dirty="0"/>
              <a:t>, in which the aim is to find the best state. For example 4-queen problem, 8-queen problem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6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1F1B-1829-4B97-B12F-CF1AD43D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Hill-climbing search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47DEE-7ED3-47F2-8F75-4DCABDCC5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search algorithm </a:t>
            </a:r>
          </a:p>
          <a:p>
            <a:r>
              <a:rPr lang="en-US" dirty="0"/>
              <a:t>Greedy approach </a:t>
            </a:r>
          </a:p>
          <a:p>
            <a:r>
              <a:rPr lang="en-US" dirty="0"/>
              <a:t>No back tracking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CE527-327F-4CF3-8D6A-A8F8C2D3A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099" y="2254566"/>
            <a:ext cx="6039693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D2A0-1006-47C9-B58D-19FDB315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68AE-1354-424B-A65C-7382D784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keeps track of one current state and on each iteration moves to the neighboring state with highest value—that is, it heads in the direction that provides the </a:t>
            </a:r>
            <a:r>
              <a:rPr lang="en-US" b="1" dirty="0"/>
              <a:t>steepest ascent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973DE-EEC9-4874-B0BD-4EFD7D038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40" y="3550933"/>
            <a:ext cx="7731715" cy="294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2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1E59-7DC4-4C86-B836-FC7CE7751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8-Puzzle problem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ED4BDE-B689-4602-8144-536D494E0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9236" y="1690688"/>
            <a:ext cx="5658935" cy="413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3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1A651-832E-4638-A0C5-E34F3390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38" y="221226"/>
            <a:ext cx="10515600" cy="850030"/>
          </a:xfrm>
        </p:spPr>
        <p:txBody>
          <a:bodyPr/>
          <a:lstStyle/>
          <a:p>
            <a:r>
              <a:rPr lang="en-US" dirty="0"/>
              <a:t>8-queen problem using hill climbing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767AA2-8181-41A6-AAFF-5C9AD9C85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538" y="1167376"/>
            <a:ext cx="11403185" cy="569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5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E274-3C49-4178-A6BC-9B07461C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8278-D14F-4EBC-8992-3304B91EF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Cost: An 8-queens state with heuristic cost </a:t>
            </a:r>
          </a:p>
          <a:p>
            <a:r>
              <a:rPr lang="en-US" dirty="0"/>
              <a:t>estimate h=17.(Direct attack or indirect attacks) </a:t>
            </a:r>
          </a:p>
          <a:p>
            <a:endParaRPr lang="en-US" dirty="0"/>
          </a:p>
          <a:p>
            <a:r>
              <a:rPr lang="en-US" dirty="0"/>
              <a:t>There are 8 moves that are tied for best, </a:t>
            </a:r>
          </a:p>
          <a:p>
            <a:pPr lvl="1"/>
            <a:r>
              <a:rPr lang="en-US" dirty="0"/>
              <a:t>with h=12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D82497-514D-457E-8E50-3E3771E6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782" y="1723621"/>
            <a:ext cx="4170218" cy="482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22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09C5A-0B5F-44BA-B379-074494D5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in Hill climbing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C096-76FD-42FD-81F1-EDCAC571F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maximum (local information) blind folded </a:t>
            </a:r>
          </a:p>
          <a:p>
            <a:endParaRPr lang="en-US" dirty="0"/>
          </a:p>
          <a:p>
            <a:r>
              <a:rPr lang="en-US" i="1" dirty="0"/>
              <a:t>Plateau/Flat maximum </a:t>
            </a:r>
          </a:p>
          <a:p>
            <a:endParaRPr lang="en-US" i="1" dirty="0"/>
          </a:p>
          <a:p>
            <a:r>
              <a:rPr lang="en-US" i="1" dirty="0"/>
              <a:t>Ridge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6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BC7E-2F1B-47E7-A0A4-D93CBC49E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to be noted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E121-F8B4-45A8-9FC8-137462E6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from a randomly generated 8-queens state, steepest-ascent hill climbing gets stuck 86% of the time, solving only 14% of problem instances. </a:t>
            </a:r>
          </a:p>
          <a:p>
            <a:endParaRPr lang="en-US" dirty="0"/>
          </a:p>
          <a:p>
            <a:r>
              <a:rPr lang="en-US" dirty="0"/>
              <a:t>On the other hand, it works quickly, taking just 4 steps on average when it succeeds and 3 when it gets stuck—not bad for a state space</a:t>
            </a:r>
            <a:br>
              <a:rPr lang="en-US" dirty="0"/>
            </a:br>
            <a:r>
              <a:rPr lang="en-US" dirty="0"/>
              <a:t>with million states. 88 ≈ 17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2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E78F-BE46-49AD-9211-2A4D7466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beam search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EA20-6E55-4700-8E35-D2A403F3E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Beam width in Hill climbing </a:t>
            </a:r>
            <a:r>
              <a:rPr lang="en-US" dirty="0" err="1"/>
              <a:t>algo</a:t>
            </a:r>
            <a:r>
              <a:rPr lang="en-US" dirty="0"/>
              <a:t> (beta value) = 1</a:t>
            </a:r>
          </a:p>
          <a:p>
            <a:endParaRPr lang="en-US" dirty="0"/>
          </a:p>
          <a:p>
            <a:r>
              <a:rPr lang="en-US" dirty="0"/>
              <a:t>It will keep in memory based on beam width to overcome the issues in hill climbing greedy techniques, where the beam width was only one. </a:t>
            </a:r>
          </a:p>
        </p:txBody>
      </p:sp>
    </p:spTree>
    <p:extLst>
      <p:ext uri="{BB962C8B-B14F-4D97-AF65-F5344CB8AC3E}">
        <p14:creationId xmlns:p14="http://schemas.microsoft.com/office/powerpoint/2010/main" val="1126305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5E59-AE7F-4FAA-B58F-FC22ABAC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algorithms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D445E-AAC3-4F5C-9558-773BC4BF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evolutionary algorithm (EA) is an algorithm that uses mechanisms inspired by nature and solves problems through processes that emulate the behaviors of living organisms.</a:t>
            </a:r>
          </a:p>
          <a:p>
            <a:r>
              <a:rPr lang="en-US" dirty="0"/>
              <a:t>There is a population of individuals (states), in which the fittest (highest value) individuals produce offspring (successor states) that populate the next generation, a process called </a:t>
            </a:r>
            <a:r>
              <a:rPr lang="en-US" b="1" dirty="0"/>
              <a:t>recombination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Genetic Algorithm (inspired from biology) </a:t>
            </a:r>
          </a:p>
          <a:p>
            <a:endParaRPr lang="en-US" dirty="0"/>
          </a:p>
          <a:p>
            <a:r>
              <a:rPr lang="en-US" dirty="0"/>
              <a:t>Particle swarm optimization (PSO)</a:t>
            </a:r>
          </a:p>
        </p:txBody>
      </p:sp>
    </p:spTree>
    <p:extLst>
      <p:ext uri="{BB962C8B-B14F-4D97-AF65-F5344CB8AC3E}">
        <p14:creationId xmlns:p14="http://schemas.microsoft.com/office/powerpoint/2010/main" val="2160992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BDB4-3948-4A5A-A498-522300E96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Genetic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E6BE0-9235-4960-A02F-19F52F44E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concept </a:t>
            </a:r>
          </a:p>
          <a:p>
            <a:r>
              <a:rPr lang="en-US" dirty="0"/>
              <a:t>Used for solving complex problems (link NP problems)</a:t>
            </a:r>
          </a:p>
          <a:p>
            <a:pPr lvl="1"/>
            <a:r>
              <a:rPr lang="en-US" dirty="0"/>
              <a:t>A problem is called NP (nondeterministic polynomial) if its solution can be guessed and verified in polynomial time.</a:t>
            </a:r>
          </a:p>
          <a:p>
            <a:r>
              <a:rPr lang="en-US" dirty="0"/>
              <a:t>Focus on optimization </a:t>
            </a:r>
          </a:p>
          <a:p>
            <a:endParaRPr lang="en-US" dirty="0"/>
          </a:p>
          <a:p>
            <a:r>
              <a:rPr lang="en-US" dirty="0"/>
              <a:t>Repeated steps </a:t>
            </a:r>
          </a:p>
          <a:p>
            <a:pPr lvl="1"/>
            <a:r>
              <a:rPr lang="en-US" dirty="0"/>
              <a:t>Population, fitness, selection, crossover, mutation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27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2C96-F68E-5E7C-047D-2F0DCC9A2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BA41-91C6-1E22-FAF3-75D707391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(collection of states)</a:t>
            </a:r>
          </a:p>
          <a:p>
            <a:r>
              <a:rPr lang="en-US" dirty="0"/>
              <a:t>Fitness( algo: closest to final solution, no of non attacking pairs) </a:t>
            </a:r>
          </a:p>
          <a:p>
            <a:r>
              <a:rPr lang="en-US" dirty="0"/>
              <a:t> Selection ( selecting state that are close to final solution, roulette wheel, rank,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Crossover (interchanging values for best solution )</a:t>
            </a:r>
          </a:p>
          <a:p>
            <a:r>
              <a:rPr lang="en-US" dirty="0"/>
              <a:t> mutation (random changes to make it mutant)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3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mg 622a4aa4f3398">
            <a:extLst>
              <a:ext uri="{FF2B5EF4-FFF2-40B4-BE49-F238E27FC236}">
                <a16:creationId xmlns:a16="http://schemas.microsoft.com/office/drawing/2014/main" id="{6F000504-D714-4000-96F6-BFE8CEF342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2447" y="3276599"/>
            <a:ext cx="2805953" cy="280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img 622a4aa4f3398">
            <a:extLst>
              <a:ext uri="{FF2B5EF4-FFF2-40B4-BE49-F238E27FC236}">
                <a16:creationId xmlns:a16="http://schemas.microsoft.com/office/drawing/2014/main" id="{F5D618E4-1A40-30E9-F00B-507A6B4029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438835"/>
            <a:ext cx="2142565" cy="214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 descr="img 622a4aa4f3398">
            <a:extLst>
              <a:ext uri="{FF2B5EF4-FFF2-40B4-BE49-F238E27FC236}">
                <a16:creationId xmlns:a16="http://schemas.microsoft.com/office/drawing/2014/main" id="{5EA76E5E-6962-1D3E-174A-3AD420F32B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84612" y="3276600"/>
            <a:ext cx="3863788" cy="386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08EB592-D62F-8F5A-EA0E-D329B18D9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0487" y="800100"/>
            <a:ext cx="4391025" cy="53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47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ECCF-B303-4D41-AB21-E29CA721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 for 8</a:t>
            </a:r>
            <a:r>
              <a:rPr lang="en-US" baseline="30000" dirty="0"/>
              <a:t>-Queen Problem 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B9148D-01ED-4B01-9826-08BD2C0A1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9667" y="2171456"/>
            <a:ext cx="5268789" cy="2824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C72678-58E8-4DBC-836E-0E69BDD43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00" y="2318939"/>
            <a:ext cx="6030167" cy="297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68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CD81-3BC5-435D-A77D-4729F7BE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Adversarial 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EFADC-4E16-40C3-ABF0-641E04D7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competitive environments</a:t>
            </a:r>
            <a:r>
              <a:rPr lang="en-US" dirty="0"/>
              <a:t>, in which two or more agents have</a:t>
            </a:r>
            <a:br>
              <a:rPr lang="en-US" dirty="0"/>
            </a:br>
            <a:r>
              <a:rPr lang="en-US" dirty="0"/>
              <a:t>conflicting goals, giving rise to </a:t>
            </a:r>
            <a:r>
              <a:rPr lang="en-US" b="1" dirty="0"/>
              <a:t>adversarial search </a:t>
            </a:r>
            <a:r>
              <a:rPr lang="en-US" dirty="0"/>
              <a:t>problems. 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MinMax</a:t>
            </a:r>
            <a:r>
              <a:rPr lang="en-US" dirty="0"/>
              <a:t> Algorithm </a:t>
            </a:r>
          </a:p>
          <a:p>
            <a:endParaRPr lang="en-US" dirty="0"/>
          </a:p>
          <a:p>
            <a:r>
              <a:rPr lang="en-US" dirty="0" err="1"/>
              <a:t>AlphBeta</a:t>
            </a:r>
            <a:r>
              <a:rPr lang="en-US" dirty="0"/>
              <a:t> pruning </a:t>
            </a:r>
          </a:p>
        </p:txBody>
      </p:sp>
    </p:spTree>
    <p:extLst>
      <p:ext uri="{BB962C8B-B14F-4D97-AF65-F5344CB8AC3E}">
        <p14:creationId xmlns:p14="http://schemas.microsoft.com/office/powerpoint/2010/main" val="1537633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A76A-59C5-4D7C-B7E3-864D8BE75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theory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4DFDC-23C7-4789-AA41-04EF333DF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sum game</a:t>
            </a:r>
          </a:p>
          <a:p>
            <a:r>
              <a:rPr lang="en-US" dirty="0"/>
              <a:t>Zero-sum game is a mathematical representation in game theory and economic theory of a situation that involves two sides, where the result is an advantage for one side and an equivalent loss for the other</a:t>
            </a:r>
          </a:p>
        </p:txBody>
      </p:sp>
    </p:spTree>
    <p:extLst>
      <p:ext uri="{BB962C8B-B14F-4D97-AF65-F5344CB8AC3E}">
        <p14:creationId xmlns:p14="http://schemas.microsoft.com/office/powerpoint/2010/main" val="295141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1355-7A49-41B9-88BB-D5E8303F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MinMax</a:t>
            </a:r>
            <a:r>
              <a:rPr lang="en-US" dirty="0"/>
              <a:t> </a:t>
            </a:r>
            <a:r>
              <a:rPr lang="en-US" dirty="0" err="1"/>
              <a:t>Algo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D78A59-419C-4B52-AAF5-08FAFEF19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719" y="1504335"/>
            <a:ext cx="6889322" cy="521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79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A8CF-C117-3610-81DA-F5CE4A84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tic-toc-toe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67FA-9772-C103-7BC1-9E755B908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9!=362, 880</a:t>
            </a:r>
          </a:p>
          <a:p>
            <a:endParaRPr lang="en-US" dirty="0"/>
          </a:p>
          <a:p>
            <a:r>
              <a:rPr lang="en-US" dirty="0"/>
              <a:t>Chess 10</a:t>
            </a:r>
            <a:r>
              <a:rPr lang="en-US" baseline="30000" dirty="0"/>
              <a:t>40</a:t>
            </a:r>
          </a:p>
          <a:p>
            <a:endParaRPr lang="en-US" baseline="30000" dirty="0"/>
          </a:p>
          <a:p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1125420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909BA-3BFF-4D17-9174-BB1DA3A8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420A2-3094-40A4-8591-44437126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Optimal Decisions in Games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EE5DB-8BCF-418D-9557-473C62BF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105" y="2280084"/>
            <a:ext cx="7113395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887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FAB3-DEBB-4FF9-B5CF-52273CA89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Alpha–Beta Pruning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9A09F-71E0-41FF-966A-E4D5B5C25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game states is exponential in the depth of the tree.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cut it in half, computing the correct minimax decision without examining every state by </a:t>
            </a:r>
            <a:r>
              <a:rPr lang="en-US" b="1" dirty="0"/>
              <a:t>pruning.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295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5DF1-F4D9-4B0F-89D2-6665235F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429E39-4BC7-44FC-B0D7-60FC21E1A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7127" y="1865431"/>
            <a:ext cx="7267575" cy="440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35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F25B-1D38-D168-505C-DE17DBE0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Linux Libertine"/>
              </a:rPr>
              <a:t>Generative Adversarial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Linux Libertine"/>
              </a:rPr>
              <a:t>N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Linux Libertine"/>
              </a:rPr>
              <a:t>etwork (GAN)</a:t>
            </a:r>
            <a:b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Linux Libertin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BAA28-7BFA-5B96-E2D4-ECC75F4DF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 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generative adversarial network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</a:t>
            </a:r>
            <a:r>
              <a:rPr lang="en-US" b="1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GAN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 is a class of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2" tooltip="Machine learning"/>
              </a:rPr>
              <a:t>machine learning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frameworks and a prominent framework for approaching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Generative AI"/>
              </a:rPr>
              <a:t>generative AI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/>
              </a:rPr>
              <a:t>[1]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/>
              </a:rPr>
              <a:t>[2]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The concept was initially developed by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6" tooltip="Ian Goodfellow"/>
              </a:rPr>
              <a:t>Ian Goodfellow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and his colleagues in June 2014.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/>
              </a:rPr>
              <a:t>[3]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In a GAN, two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 tooltip="Neural network"/>
              </a:rPr>
              <a:t>neural networks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contest with each other in the form of a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9" tooltip="Zero-sum game"/>
              </a:rPr>
              <a:t>zero-sum game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where one agent's gain is another agent's loss.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3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1D0D-1970-4303-462B-88949BBE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B722E-CCEB-1308-0662-2AD16152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Given a training set, this technique learns to generate new data with the same statistics as the training set. For example, a GAN trained on photographs can generate new photographs that look at least superficially authentic to human observers, having many realistic characteristics. Though originally proposed as a form of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2" tooltip="Generative model"/>
              </a:rPr>
              <a:t>generative model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for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Unsupervised learning"/>
              </a:rPr>
              <a:t>unsupervised learning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GANs have also proved useful for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Semi-supervised learning"/>
              </a:rPr>
              <a:t>semi-supervised learning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/>
              </a:rPr>
              <a:t>[4]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fully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6" tooltip="Supervised learning"/>
              </a:rPr>
              <a:t>supervised learning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7"/>
              </a:rPr>
              <a:t>[5]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and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8" tooltip="Reinforcement learning"/>
              </a:rPr>
              <a:t>reinforcement learning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9"/>
              </a:rPr>
              <a:t>[6]</a:t>
            </a:r>
            <a:endParaRPr lang="en-US" b="0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879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57AE-E9F0-F154-06AB-6F507A226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…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DAC0-D079-2BA8-2BEB-3165C6E0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core idea of a GAN is based on the "indirect" training through the discriminator, another neural network that can tell how "realistic" the input seems, which itself is also being updated dynamically.</a:t>
            </a:r>
            <a:r>
              <a:rPr lang="en-US" b="0" i="0" u="none" strike="noStrike" baseline="30000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2"/>
              </a:rPr>
              <a:t>[7]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This means that the generator is not trained to minimize the distance to a specific image, but rather to fool the discriminator. This enables the model to learn in an unsupervised manner.</a:t>
            </a: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GANs are similar to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3" tooltip="Mimicry"/>
              </a:rPr>
              <a:t>mimicry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in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4" tooltip="Evolutionary biology"/>
              </a:rPr>
              <a:t>evolutionary biology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 with an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hlinkClick r:id="rId5" tooltip="Evolutionary arms race"/>
              </a:rPr>
              <a:t>evolutionary arms race</a:t>
            </a:r>
            <a:r>
              <a:rPr lang="en-US" b="0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between both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898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4EC2-5CC3-9235-E7E1-CBB4AF1DE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EA23-4539-3E93-8357-65B987758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https://machinelearningmastery.com/impressive-applications-of-generative-adversarial-networks/</a:t>
            </a:r>
          </a:p>
        </p:txBody>
      </p:sp>
    </p:spTree>
    <p:extLst>
      <p:ext uri="{BB962C8B-B14F-4D97-AF65-F5344CB8AC3E}">
        <p14:creationId xmlns:p14="http://schemas.microsoft.com/office/powerpoint/2010/main" val="220745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957</Words>
  <Application>Microsoft Office PowerPoint</Application>
  <PresentationFormat>Widescreen</PresentationFormat>
  <Paragraphs>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Linux Libertine</vt:lpstr>
      <vt:lpstr>Office Theme</vt:lpstr>
      <vt:lpstr>Search in Complex Environment </vt:lpstr>
      <vt:lpstr>Recap </vt:lpstr>
      <vt:lpstr>Cont…</vt:lpstr>
      <vt:lpstr>Hill-climbing search  </vt:lpstr>
      <vt:lpstr>Cont…</vt:lpstr>
      <vt:lpstr>8-Puzzle problem </vt:lpstr>
      <vt:lpstr>8-queen problem using hill climbing </vt:lpstr>
      <vt:lpstr>Cont…</vt:lpstr>
      <vt:lpstr>Problems in Hill climbing </vt:lpstr>
      <vt:lpstr>Point to be noted </vt:lpstr>
      <vt:lpstr>Local beam search  </vt:lpstr>
      <vt:lpstr>Evolutionary algorithms  </vt:lpstr>
      <vt:lpstr>Genetic Algorithm </vt:lpstr>
      <vt:lpstr>Cont…</vt:lpstr>
      <vt:lpstr>PowerPoint Presentation</vt:lpstr>
      <vt:lpstr>GA for 8-Queen Problem </vt:lpstr>
      <vt:lpstr>Adversarial search </vt:lpstr>
      <vt:lpstr>Game theory </vt:lpstr>
      <vt:lpstr>MinMax Algo</vt:lpstr>
      <vt:lpstr>For tic-toc-toe </vt:lpstr>
      <vt:lpstr>Cont…</vt:lpstr>
      <vt:lpstr>Alpha–Beta Pruning  </vt:lpstr>
      <vt:lpstr>Cont…</vt:lpstr>
      <vt:lpstr>Generative Adversarial Network (GAN) </vt:lpstr>
      <vt:lpstr>Cont…</vt:lpstr>
      <vt:lpstr>Cont…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in Complex Environment</dc:title>
  <dc:creator>Iftikhar Alam</dc:creator>
  <cp:lastModifiedBy>ARSHAD AHMAD</cp:lastModifiedBy>
  <cp:revision>17</cp:revision>
  <dcterms:created xsi:type="dcterms:W3CDTF">2023-04-10T17:33:40Z</dcterms:created>
  <dcterms:modified xsi:type="dcterms:W3CDTF">2024-04-16T08:18:26Z</dcterms:modified>
</cp:coreProperties>
</file>